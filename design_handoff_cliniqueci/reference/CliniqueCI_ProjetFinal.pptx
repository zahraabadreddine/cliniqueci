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21408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82112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12464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42816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3872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4576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15984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457200"/>
            <a:ext cx="4023360" cy="4206240"/>
          </a:xfrm>
          <a:prstGeom prst="ellipse">
            <a:avLst/>
          </a:prstGeom>
          <a:solidFill>
            <a:srgbClr val="0D7A5F">
              <a:alpha val="15000"/>
            </a:srgbClr>
          </a:solidFill>
          <a:ln w="12700">
            <a:solidFill>
              <a:srgbClr val="0F1A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658368"/>
            <a:ext cx="3291840" cy="310896"/>
          </a:xfrm>
          <a:prstGeom prst="roundRect">
            <a:avLst>
              <a:gd name="adj" fmla="val 35294"/>
            </a:avLst>
          </a:prstGeom>
          <a:solidFill>
            <a:srgbClr val="0F1A16"/>
          </a:solidFill>
          <a:ln w="19050">
            <a:solidFill>
              <a:srgbClr val="12A0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6583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12A07C"/>
                </a:solidFill>
              </a:rPr>
              <a:t>PROJET FINAL · INNOVATION &amp; ENTREPRENEURIAT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Clinique</a:t>
            </a:r>
            <a:pPr algn="ctr" indent="0" marL="0">
              <a:buNone/>
            </a:pPr>
            <a:r>
              <a:rPr lang="en-US" sz="8000" b="1" i="1" dirty="0">
                <a:solidFill>
                  <a:srgbClr val="12A0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</a:t>
            </a:r>
            <a:endParaRPr lang="en-US" sz="8000" dirty="0"/>
          </a:p>
        </p:txBody>
      </p:sp>
      <p:sp>
        <p:nvSpPr>
          <p:cNvPr id="34" name="Text 32"/>
          <p:cNvSpPr/>
          <p:nvPr/>
        </p:nvSpPr>
        <p:spPr>
          <a:xfrm>
            <a:off x="137160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0BFB8"/>
                </a:solidFill>
              </a:rPr>
              <a:t>Digitaliser la gestion des cliniques privées à Abidjan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0BFB8"/>
                </a:solidFill>
              </a:rPr>
              <a:t>pour améliorer l'expérience soignant-patient.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7A5F">
              <a:alpha val="15000"/>
            </a:srgbClr>
          </a:solidFill>
          <a:ln w="12700">
            <a:solidFill>
              <a:srgbClr val="0F1A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9F90"/>
                </a:solidFill>
              </a:rPr>
              <a:t>Cours Innovation &amp; Entrepreneuriat  ·  Cohorte Juin 2026  ·  Abidjan, Côte d'Ivoire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D7A5F"/>
                </a:solidFill>
              </a:rPr>
              <a:t>CONTEXTE · LE PROBLÈME QU'ON A DÉCIDÉ D'EXPLORER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cliniques privées d'Abidjan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nagent dans le papier.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78"/>
                </a:solidFill>
              </a:rPr>
              <a:t>cliniques privées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78"/>
                </a:solidFill>
              </a:rPr>
              <a:t>à Abidjan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984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78"/>
                </a:solidFill>
              </a:rPr>
              <a:t>solution locale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78"/>
                </a:solidFill>
              </a:rPr>
              <a:t>dominante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984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30min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78"/>
                </a:solidFill>
              </a:rPr>
              <a:t>perdues/jour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78"/>
                </a:solidFill>
              </a:rPr>
              <a:t>par médecin en admin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F78"/>
                </a:solidFill>
              </a:rPr>
              <a:t>En Côte d'Ivoire, les cliniques privées gèrent encore leurs rendez-vous par téléphone, leurs dossiers sur des fiches cartonnées et leurs ordonnances à la main. Aucun outil adapté au marché local n'existe. Les solutions européennes coûtent trop cher et nécessitent une formation longue.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E6F5F1"/>
          </a:solidFill>
          <a:ln w="12700">
            <a:solidFill>
              <a:srgbClr val="E6F5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D7A5F"/>
                </a:solidFill>
              </a:rPr>
              <a:t>🎯 Prise de risque : un sujet de terrain, pas de classe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A16"/>
                </a:solidFill>
              </a:rPr>
              <a:t>Nous avons choisi un problème réel que nous avons observé nous-mêmes dans des cliniques proches — pas un sujet théorique.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8229600" cy="45720"/>
          </a:xfrm>
          <a:prstGeom prst="rect">
            <a:avLst/>
          </a:prstGeom>
          <a:solidFill>
            <a:srgbClr val="E6F5F1"/>
          </a:solidFill>
          <a:ln w="12700">
            <a:solidFill>
              <a:srgbClr val="E6F5F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D7A5F"/>
                </a:solidFill>
              </a:rPr>
              <a:t>ÉTAPE 1 · EMPATHIE — 4 ENTRETIENS MENÉS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Nous avons écouté avant d'inventer.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78"/>
                </a:solidFill>
              </a:rPr>
              <a:t>Règles appliquées : questions ouvertes · max 10 mots/question · 25% de parole seulement · enregistrement avec accord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114800" cy="1645920"/>
          </a:xfrm>
          <a:prstGeom prst="rect">
            <a:avLst/>
          </a:prstGeom>
          <a:solidFill>
            <a:srgbClr val="F4F9F7"/>
          </a:solidFill>
          <a:ln w="12700">
            <a:solidFill>
              <a:srgbClr val="D0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4114800" cy="38404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996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👩‍⚕️ Dr. Aminata K.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0" y="15179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F5F1"/>
                </a:solidFill>
              </a:rPr>
              <a:t>22 min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19019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0D7A5F"/>
                </a:solidFill>
              </a:rPr>
              <a:t>Médecin propriétaire · Clinique Riviera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Lundi 5 mai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213969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Aminata gère seule son agenda via WhatsApp et un registre papier. Elle perd environ 30 minutes par jour à retrouver des fiches et à rappeler des patients. Son insight clé : « Je ne suis pas secrétaire, mais je fais ce travail faute de mieux. » Elle se sent compétente médicalement mais dépassée administrativement.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2871216"/>
            <a:ext cx="36576" cy="201168"/>
          </a:xfrm>
          <a:prstGeom prst="rect">
            <a:avLst/>
          </a:prstGeom>
          <a:solidFill>
            <a:srgbClr val="12A07C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529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D7A5F"/>
                </a:solidFill>
              </a:rPr>
              <a:t>Besoin : Besoin d'un outil simple qui libère son temps pour la médecine.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481328"/>
            <a:ext cx="4114800" cy="1645920"/>
          </a:xfrm>
          <a:prstGeom prst="rect">
            <a:avLst/>
          </a:prstGeom>
          <a:solidFill>
            <a:srgbClr val="F4F9F7"/>
          </a:solidFill>
          <a:ln w="12700">
            <a:solidFill>
              <a:srgbClr val="D0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81328"/>
            <a:ext cx="4114800" cy="38404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4996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👩‍💼 Rana 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0" y="15179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F5F1"/>
                </a:solidFill>
              </a:rPr>
              <a:t>18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4608" y="19019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0D7A5F"/>
                </a:solidFill>
              </a:rPr>
              <a:t>Secrétaire médicale · Clinique Plateau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64608" y="1901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Lundi 5 mai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64608" y="213969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Rana jongle entre 3 cahiers, 2 téléphones et des post-its. Les doubles réservations arrivent chaque semaine. Elle est la première à absorber la colère des patients. Insight : « Je sais que je fais des erreurs, mais je n'ai pas les bons outils. » Elle veut être efficace, pas s'excuser.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64608" y="2871216"/>
            <a:ext cx="36576" cy="201168"/>
          </a:xfrm>
          <a:prstGeom prst="rect">
            <a:avLst/>
          </a:prstGeom>
          <a:solidFill>
            <a:srgbClr val="12A07C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8529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D7A5F"/>
                </a:solidFill>
              </a:rPr>
              <a:t>Besoin : Besoin d'un système unique qui centralise toutes les réservations.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264408"/>
            <a:ext cx="4114800" cy="1645920"/>
          </a:xfrm>
          <a:prstGeom prst="rect">
            <a:avLst/>
          </a:prstGeom>
          <a:solidFill>
            <a:srgbClr val="F4F9F7"/>
          </a:solidFill>
          <a:ln w="12700">
            <a:solidFill>
              <a:srgbClr val="D0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64408"/>
            <a:ext cx="4114800" cy="38404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82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🧑 Karim M.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0" y="33009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F5F1"/>
                </a:solidFill>
              </a:rPr>
              <a:t>15 min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3685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0D7A5F"/>
                </a:solidFill>
              </a:rPr>
              <a:t>Patient · 31 ans, cadre bancaire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36850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Mardi 6 mai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Karim a changé de clinique 2 fois en 1 an à cause du chaos des rendez-vous. Il réserve tout en ligne (Uber, restaurants, billets d'avion). Insight : « Si une pizzeria peut me donner un créneau en ligne à minuit, pourquoi pas mon médecin ? » Il ne comprend pas l'archaïsme médical.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" y="4654296"/>
            <a:ext cx="36576" cy="201168"/>
          </a:xfrm>
          <a:prstGeom prst="rect">
            <a:avLst/>
          </a:prstGeom>
          <a:solidFill>
            <a:srgbClr val="12A07C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6360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D7A5F"/>
                </a:solidFill>
              </a:rPr>
              <a:t>Besoin : Besoin de réserver, consulter ses ordonnances et payer en ligne.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3264408"/>
            <a:ext cx="4114800" cy="1645920"/>
          </a:xfrm>
          <a:prstGeom prst="rect">
            <a:avLst/>
          </a:prstGeom>
          <a:solidFill>
            <a:srgbClr val="F4F9F7"/>
          </a:solidFill>
          <a:ln w="12700">
            <a:solidFill>
              <a:srgbClr val="D0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264408"/>
            <a:ext cx="4114800" cy="38404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282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👨‍⚕️ Dr. Souleymane B.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63840" y="33009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F5F1"/>
                </a:solidFill>
              </a:rPr>
              <a:t>25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64608" y="3685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0D7A5F"/>
                </a:solidFill>
              </a:rPr>
              <a:t>Pédiatre · Cabinet privé Cocody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64608" y="36850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Mercredi 7 mai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64608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Souleymane a essayé 2 logiciels européens, abandonnés après 3 semaines faute de support local et d'adaptation. Il stocke maintenant tout sur Excel. Insight surprise : « J'ai des patients qui viennent sans leurs médicaments parce qu'ils ont perdu l'ordonnance. Ça m'angoisse. » L'enjeu est médical, pas seulement pratique.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64608" y="4654296"/>
            <a:ext cx="36576" cy="201168"/>
          </a:xfrm>
          <a:prstGeom prst="rect">
            <a:avLst/>
          </a:prstGeom>
          <a:solidFill>
            <a:srgbClr val="12A07C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46360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D7A5F"/>
                </a:solidFill>
              </a:rPr>
              <a:t>Besoin : Besoin d'ordonnances digitales accessibles par le patient à tout moment.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D7A5F"/>
                </a:solidFill>
              </a:rPr>
              <a:t>ÉTAPE 2 · PERSPICACITÉ — PERSONAE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utilisateurs, un seul point de friction.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2697480" cy="640080"/>
          </a:xfrm>
          <a:prstGeom prst="rect">
            <a:avLst/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👩‍⚕️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1225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Aminata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813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A5F"/>
                </a:solidFill>
              </a:rPr>
              <a:t>Médecin propriétaire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18653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78"/>
                </a:solidFill>
              </a:rPr>
              <a:t>38 ans · Abidjan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103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7A5F"/>
                </a:solidFill>
              </a:rPr>
              <a:t>OBJECTIFS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Passer plus de temps avec ses patients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2596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Avoir une vue globale de sa clinique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8712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Être perçue comme moderne et fiable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18211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D64C3F"/>
                </a:solidFill>
              </a:rPr>
              <a:t>POINTS DE DOULEUR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5488" y="3401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✗ Perd 30 min/jour en recherche de fiches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36484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✗ Pas de vue sur ses revenus mensuels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38953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✗ Aucun outil adapté trouvé jusqu'ici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4462272"/>
            <a:ext cx="2697480" cy="457200"/>
          </a:xfrm>
          <a:prstGeom prst="rect">
            <a:avLst/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8056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1A16"/>
                </a:solidFill>
              </a:rPr>
              <a:t>« Je suis médecin, pas archiviste. »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1170432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170432"/>
            <a:ext cx="2697480" cy="640080"/>
          </a:xfrm>
          <a:prstGeom prst="rect">
            <a:avLst/>
          </a:prstGeom>
          <a:solidFill>
            <a:srgbClr val="FDF5E0"/>
          </a:solidFill>
          <a:ln w="12700">
            <a:solidFill>
              <a:srgbClr val="FDF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👩‍💼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959352" y="1225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59352" y="14813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Secrétaire médicale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55848" y="18653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78"/>
                </a:solidFill>
              </a:rPr>
              <a:t>26 ans · Cocody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55848" y="2103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7A5F"/>
                </a:solidFill>
              </a:rPr>
              <a:t>OBJECTIFS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55848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Zéro erreur de double réservation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55848" y="2596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Être reconnue comme efficace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55848" y="28712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Finir à l'heure sans stress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55848" y="318211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D64C3F"/>
                </a:solidFill>
              </a:rPr>
              <a:t>POINTS DE DOULEUR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55848" y="3401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✗ 3 cahiers + WhatsApp + téléphone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55848" y="36484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✗ Premiers à gérer la colère des patients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55848" y="38953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✗ Aucune formation logiciel reçue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46120" y="4462272"/>
            <a:ext cx="2697480" cy="457200"/>
          </a:xfrm>
          <a:prstGeom prst="rect">
            <a:avLst/>
          </a:prstGeom>
          <a:solidFill>
            <a:srgbClr val="FDF5E0"/>
          </a:solidFill>
          <a:ln w="12700">
            <a:solidFill>
              <a:srgbClr val="FDF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448056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1A16"/>
                </a:solidFill>
              </a:rPr>
              <a:t>« Je veux bien faire, mais les outils me trahissent. »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1170432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170432"/>
            <a:ext cx="269748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🧑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839712" y="1225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Karim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39712" y="14813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FA0"/>
                </a:solidFill>
              </a:rPr>
              <a:t>Patient · Cadre bancaire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36208" y="18653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78"/>
                </a:solidFill>
              </a:rPr>
              <a:t>31 ans · Plateau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36208" y="2103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7A5F"/>
                </a:solidFill>
              </a:rPr>
              <a:t>OBJECTIFS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36208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Réserver un RDV en moins de 2 minutes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36208" y="2596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Retrouver ses ordonnances n'importe quand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36208" y="28712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Ne plus attendre sans information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36208" y="318211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D64C3F"/>
                </a:solidFill>
              </a:rPr>
              <a:t>POINTS DE DOULEUR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36208" y="3401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✗ Changé 2 fois de clinique en 1 an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36208" y="36484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✗ Perd ses ordonnances papier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36208" y="38953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78"/>
                </a:solidFill>
              </a:rPr>
              <a:t>✗ Appelle 4 fois avant d'avoir quelqu'un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26480" y="4462272"/>
            <a:ext cx="269748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448056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1A16"/>
                </a:solidFill>
              </a:rPr>
              <a:t>« Si Uber peut le faire, mon médecin aussi. »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D7A5F"/>
                </a:solidFill>
              </a:rPr>
              <a:t>ÉTAPE 2 · CARTE DE PARCOURS — KARIM, LE PATIENT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"Une journée dans la vie" — du besoin à l'ordonnance.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4160520"/>
            <a:ext cx="8412480" cy="0"/>
          </a:xfrm>
          <a:prstGeom prst="line">
            <a:avLst/>
          </a:prstGeom>
          <a:noFill/>
          <a:ln w="12700">
            <a:solidFill>
              <a:srgbClr val="C0D8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2788920"/>
            <a:ext cx="1161288" cy="1371600"/>
          </a:xfrm>
          <a:prstGeom prst="rect">
            <a:avLst/>
          </a:prstGeom>
          <a:solidFill>
            <a:srgbClr val="D8EDE7"/>
          </a:solidFill>
          <a:ln w="12700">
            <a:solidFill>
              <a:srgbClr val="D8E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07008"/>
            <a:ext cx="402336" cy="40233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1615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" y="166420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Réalise qu'il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a besoin d'un RDV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217627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" y="2505456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Cherche le numéro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de la clinique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sur WhatsApp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804672" y="4069080"/>
            <a:ext cx="182880" cy="182880"/>
          </a:xfrm>
          <a:prstGeom prst="ellipse">
            <a:avLst/>
          </a:prstGeom>
          <a:solidFill>
            <a:srgbClr val="12A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3703320"/>
            <a:ext cx="1161288" cy="457200"/>
          </a:xfrm>
          <a:prstGeom prst="rect">
            <a:avLst/>
          </a:prstGeom>
          <a:solidFill>
            <a:srgbClr val="FDDEDE"/>
          </a:solidFill>
          <a:ln w="12700">
            <a:solidFill>
              <a:srgbClr val="FDD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207008"/>
            <a:ext cx="402336" cy="40233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21615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9656" y="166420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Appelle la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clinique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19656" y="217627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19656" y="2505456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Ligne occupée.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Rappelle 4 fois.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20 min perdues.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221992" y="4069080"/>
            <a:ext cx="182880" cy="182880"/>
          </a:xfrm>
          <a:prstGeom prst="ellipse">
            <a:avLst/>
          </a:prstGeom>
          <a:solidFill>
            <a:srgbClr val="D64C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9272" y="2788920"/>
            <a:ext cx="1161288" cy="1371600"/>
          </a:xfrm>
          <a:prstGeom prst="rect">
            <a:avLst/>
          </a:prstGeom>
          <a:solidFill>
            <a:srgbClr val="D8EDE7"/>
          </a:solidFill>
          <a:ln w="12700">
            <a:solidFill>
              <a:srgbClr val="D8ED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1207008"/>
            <a:ext cx="402336" cy="40233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21615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36976" y="166420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RDV confirmé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par téléphone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36976" y="217627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36976" y="2505456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Noté à la main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par la secrétaire.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Risque d'erreur.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639312" y="4069080"/>
            <a:ext cx="182880" cy="182880"/>
          </a:xfrm>
          <a:prstGeom prst="ellipse">
            <a:avLst/>
          </a:prstGeom>
          <a:solidFill>
            <a:srgbClr val="12A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6592" y="3703320"/>
            <a:ext cx="1161288" cy="457200"/>
          </a:xfrm>
          <a:prstGeom prst="rect">
            <a:avLst/>
          </a:prstGeom>
          <a:solidFill>
            <a:srgbClr val="FDDEDE"/>
          </a:solidFill>
          <a:ln w="12700">
            <a:solidFill>
              <a:srgbClr val="FDDE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207008"/>
            <a:ext cx="402336" cy="40233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21615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54296" y="166420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Arrive le jour J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à la clinique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54296" y="217627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54296" y="2505456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Double réservation.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Attend 45 min.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Pas d'explication.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056632" y="4069080"/>
            <a:ext cx="182880" cy="182880"/>
          </a:xfrm>
          <a:prstGeom prst="ellipse">
            <a:avLst/>
          </a:prstGeom>
          <a:solidFill>
            <a:srgbClr val="D64C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3912" y="3246120"/>
            <a:ext cx="1161288" cy="914400"/>
          </a:xfrm>
          <a:prstGeom prst="rect">
            <a:avLst/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1207008"/>
            <a:ext cx="402336" cy="40233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121615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71616" y="166420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Passe en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consultation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71616" y="217627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🙂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71616" y="2505456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Médecin cherche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l'ancien dossier.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Introuvable.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473952" y="4069080"/>
            <a:ext cx="182880" cy="18288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71232" y="3703320"/>
            <a:ext cx="1161288" cy="457200"/>
          </a:xfrm>
          <a:prstGeom prst="rect">
            <a:avLst/>
          </a:prstGeom>
          <a:solidFill>
            <a:srgbClr val="FDDEDE"/>
          </a:solidFill>
          <a:ln w="12700">
            <a:solidFill>
              <a:srgbClr val="FDDE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0" y="1207008"/>
            <a:ext cx="402336" cy="40233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121615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88936" y="166420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Reçoit son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F1A16"/>
                </a:solidFill>
              </a:rPr>
              <a:t>ordonnance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88936" y="217627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88936" y="2505456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Papier manuscrit.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Perd le doc.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i="1" dirty="0">
                <a:solidFill>
                  <a:srgbClr val="6B7F78"/>
                </a:solidFill>
              </a:rPr>
              <a:t>Revient sans médicaments.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7891272" y="4069080"/>
            <a:ext cx="182880" cy="182880"/>
          </a:xfrm>
          <a:prstGeom prst="ellipse">
            <a:avLst/>
          </a:prstGeom>
          <a:solidFill>
            <a:srgbClr val="D64C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773168"/>
            <a:ext cx="182880" cy="182880"/>
          </a:xfrm>
          <a:prstGeom prst="ellipse">
            <a:avLst/>
          </a:prstGeom>
          <a:solidFill>
            <a:srgbClr val="12A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7548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78"/>
                </a:solidFill>
              </a:rPr>
              <a:t>Moment positif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77440" y="4773168"/>
            <a:ext cx="182880" cy="18288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47548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78"/>
                </a:solidFill>
              </a:rPr>
              <a:t>Moment neutre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89120" y="4773168"/>
            <a:ext cx="182880" cy="182880"/>
          </a:xfrm>
          <a:prstGeom prst="ellipse">
            <a:avLst/>
          </a:prstGeom>
          <a:solidFill>
            <a:srgbClr val="D64C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47548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78"/>
                </a:solidFill>
              </a:rPr>
              <a:t>Point de douleur critique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00800" y="4727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i="1" dirty="0">
                <a:solidFill>
                  <a:srgbClr val="0D7A5F"/>
                </a:solidFill>
              </a:rPr>
              <a:t>💡 Surprise : le problème n'est pas médical — c'est l'administration.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D7A5F"/>
                </a:solidFill>
              </a:rPr>
              <a:t>ÉTAPE 3 · ARBRE DE PROBLÈMES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racine du mal : une gestion papier qui fait souffrir tout le monde.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D64C3F"/>
                </a:solidFill>
              </a:rPr>
              <a:t>CONSÉQUENCES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201168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F4AA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26464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Patients perdent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confiance et fuient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71600" y="2176272"/>
            <a:ext cx="0" cy="320040"/>
          </a:xfrm>
          <a:prstGeom prst="line">
            <a:avLst/>
          </a:prstGeom>
          <a:noFill/>
          <a:ln w="15240">
            <a:solidFill>
              <a:srgbClr val="C0C0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426464"/>
            <a:ext cx="201168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F4AA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426464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Médecins passent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20% du temps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en admin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20440" y="2176272"/>
            <a:ext cx="0" cy="320040"/>
          </a:xfrm>
          <a:prstGeom prst="line">
            <a:avLst/>
          </a:prstGeom>
          <a:noFill/>
          <a:ln w="15240">
            <a:solidFill>
              <a:srgbClr val="C0C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26464"/>
            <a:ext cx="201168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F4AA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426464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Erreurs de double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RDV hebdomadaires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2176272"/>
            <a:ext cx="0" cy="320040"/>
          </a:xfrm>
          <a:prstGeom prst="line">
            <a:avLst/>
          </a:prstGeom>
          <a:noFill/>
          <a:ln w="15240">
            <a:solidFill>
              <a:srgbClr val="C0C0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426464"/>
            <a:ext cx="201168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F4AA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426464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Données patients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perdues ou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inaccessibles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18120" y="2176272"/>
            <a:ext cx="0" cy="320040"/>
          </a:xfrm>
          <a:prstGeom prst="line">
            <a:avLst/>
          </a:prstGeom>
          <a:noFill/>
          <a:ln w="15240">
            <a:solidFill>
              <a:srgbClr val="C0C0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496312"/>
            <a:ext cx="7863840" cy="71323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52374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6F5F1"/>
                </a:solidFill>
              </a:rPr>
              <a:t>PROBLÈME CENTRAL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926080" y="2578608"/>
            <a:ext cx="0" cy="548640"/>
          </a:xfrm>
          <a:prstGeom prst="line">
            <a:avLst/>
          </a:prstGeom>
          <a:noFill/>
          <a:ln w="12700">
            <a:solidFill>
              <a:srgbClr val="12A07C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52374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Les cliniques privées d'Abidjan gèrent encore leurs RDV, dossiers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et ordonnances manuellement — aucun outil local adapté n'existe.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36499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8A84B"/>
                </a:solidFill>
              </a:rPr>
              <a:t>CAUSES (RACINES)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371600" y="3209544"/>
            <a:ext cx="0" cy="320040"/>
          </a:xfrm>
          <a:prstGeom prst="line">
            <a:avLst/>
          </a:prstGeom>
          <a:noFill/>
          <a:ln w="15240">
            <a:solidFill>
              <a:srgbClr val="C0C0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29584"/>
            <a:ext cx="201168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529584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Aucun logiciel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adapté au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marché local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20440" y="3209544"/>
            <a:ext cx="0" cy="320040"/>
          </a:xfrm>
          <a:prstGeom prst="line">
            <a:avLst/>
          </a:prstGeom>
          <a:noFill/>
          <a:ln w="15240">
            <a:solidFill>
              <a:srgbClr val="C0C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3529584"/>
            <a:ext cx="201168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14600" y="3529584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Solutions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européennes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trop chères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0" y="3209544"/>
            <a:ext cx="0" cy="320040"/>
          </a:xfrm>
          <a:prstGeom prst="line">
            <a:avLst/>
          </a:prstGeom>
          <a:noFill/>
          <a:ln w="15240">
            <a:solidFill>
              <a:srgbClr val="C0C0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529584"/>
            <a:ext cx="201168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3529584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Manque de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formation au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numérique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18120" y="3209544"/>
            <a:ext cx="0" cy="320040"/>
          </a:xfrm>
          <a:prstGeom prst="line">
            <a:avLst/>
          </a:prstGeom>
          <a:noFill/>
          <a:ln w="15240">
            <a:solidFill>
              <a:srgbClr val="C0C0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3529584"/>
            <a:ext cx="201168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12280" y="3529584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Habitudes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papier très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ancrées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D7A5F"/>
                </a:solidFill>
              </a:rPr>
              <a:t>→ Nous ne pouvons pas tout résoudre. Nous ciblons le défi le plus pressant : l'absence d'outil simple et local.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94944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42416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89888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084832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432304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79776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127248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22192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69664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17136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12A07C"/>
                </a:solidFill>
              </a:rPr>
              <a:t>ÉTAPE 4 · QUESTION STRATÉGIQUE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40080" y="868680"/>
            <a:ext cx="7863840" cy="2606040"/>
          </a:xfrm>
          <a:prstGeom prst="rect">
            <a:avLst/>
          </a:prstGeom>
          <a:solidFill>
            <a:srgbClr val="0D7A5F">
              <a:alpha val="85000"/>
            </a:srgbClr>
          </a:solidFill>
          <a:ln w="25400">
            <a:solidFill>
              <a:srgbClr val="12A07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1005840"/>
            <a:ext cx="7132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A0C8BE"/>
                </a:solidFill>
              </a:rPr>
              <a:t>Comment pourrions-nous </a:t>
            </a:r>
            <a:pPr algn="ctr" indent="0" marL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</a:rPr>
              <a:t>permettre au personnel médical des cliniques privées d'Abidjan </a:t>
            </a:r>
            <a:pPr algn="ctr" indent="0" marL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</a:rPr>
              <a:t>de gérer rendez-vous, dossiers patients et ordonnances </a:t>
            </a:r>
            <a:pPr algn="ctr" indent="0" marL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</a:rPr>
              <a:t>depuis leur téléphone — </a:t>
            </a:r>
            <a:pPr algn="ctr" indent="0" marL="0">
              <a:lnSpc>
                <a:spcPct val="150000"/>
              </a:lnSpc>
              <a:buNone/>
            </a:pPr>
            <a:r>
              <a:rPr lang="en-US" sz="1700" b="1" i="1" dirty="0">
                <a:solidFill>
                  <a:srgbClr val="12A07C"/>
                </a:solidFill>
              </a:rPr>
              <a:t>sans formation longue ni coût prohibitif 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2514600" cy="1143000"/>
          </a:xfrm>
          <a:prstGeom prst="rect">
            <a:avLst/>
          </a:prstGeom>
          <a:solidFill>
            <a:srgbClr val="0A4A38"/>
          </a:solidFill>
          <a:ln w="12700">
            <a:solidFill>
              <a:srgbClr val="12A07C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576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0233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C8BE"/>
                </a:solidFill>
              </a:rPr>
              <a:t>Du point de vue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C8BE"/>
                </a:solidFill>
              </a:rPr>
              <a:t>de l'utilisateur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C8BE"/>
                </a:solidFill>
              </a:rPr>
              <a:t>(pas de la technologie)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3611880"/>
            <a:ext cx="2514600" cy="1143000"/>
          </a:xfrm>
          <a:prstGeom prst="rect">
            <a:avLst/>
          </a:prstGeom>
          <a:solidFill>
            <a:srgbClr val="0A4A38"/>
          </a:solidFill>
          <a:ln w="12700">
            <a:solidFill>
              <a:srgbClr val="12A07C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6576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37560" y="40233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C8BE"/>
                </a:solidFill>
              </a:rPr>
              <a:t>Pas encore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C8BE"/>
                </a:solidFill>
              </a:rPr>
              <a:t>de solution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C8BE"/>
                </a:solidFill>
              </a:rPr>
              <a:t>dans la question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611880"/>
            <a:ext cx="2514600" cy="1143000"/>
          </a:xfrm>
          <a:prstGeom prst="rect">
            <a:avLst/>
          </a:prstGeom>
          <a:solidFill>
            <a:srgbClr val="0A4A38"/>
          </a:solidFill>
          <a:ln w="12700">
            <a:solidFill>
              <a:srgbClr val="12A07C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6576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35040" y="40233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C8BE"/>
                </a:solidFill>
              </a:rPr>
              <a:t>Révèle un besoin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C8BE"/>
                </a:solidFill>
              </a:rPr>
              <a:t>découvert grâce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C8BE"/>
                </a:solidFill>
              </a:rPr>
              <a:t>aux entretiens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8F84"/>
                </a:solidFill>
              </a:rPr>
              <a:t>✓ Cette question n'aurait PAS été posée sans les entretiens — personne ne demandait un logiciel, ils décrivaient de la douleur invisible.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D7A5F"/>
                </a:solidFill>
              </a:rPr>
              <a:t>ÉTAPE 5 · BRAINSTORMING — MATRICE CRÉATIVE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solutions explorées — techniques du cours appliquées.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743200" cy="3840480"/>
          </a:xfrm>
          <a:prstGeom prst="rect">
            <a:avLst/>
          </a:prstGeom>
          <a:solidFill>
            <a:srgbClr val="0D7A5F"/>
          </a:solidFill>
          <a:ln w="25400">
            <a:solidFill>
              <a:srgbClr val="12A07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0" y="1170432"/>
            <a:ext cx="457200" cy="34747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15184" y="1188720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 Retenu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75488" y="12070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0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CliniqueCI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Logiciel SaaS Web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" y="2157984"/>
            <a:ext cx="2542032" cy="402336"/>
          </a:xfrm>
          <a:prstGeom prst="rect">
            <a:avLst/>
          </a:prstGeom>
          <a:solidFill>
            <a:srgbClr val="0A5040"/>
          </a:solidFill>
          <a:ln w="12700">
            <a:solidFill>
              <a:srgbClr val="0A5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176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A0D8C8"/>
                </a:solidFill>
              </a:rPr>
              <a:t>🔬 Analogie → Doctolib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A0D8C8"/>
                </a:solidFill>
              </a:rPr>
              <a:t>adapté au contexte ivoirien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633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RDV en ligne 24h/24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29169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Dossier patient numérique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200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Ordonnances PDF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4838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Mobile-first / hors ligne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37673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Multi-cliniques (multi-tenant)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40507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Paiement Mobile Money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2743200" cy="438912"/>
          </a:xfrm>
          <a:prstGeom prst="rect">
            <a:avLst/>
          </a:prstGeom>
          <a:solidFill>
            <a:srgbClr val="0A5040"/>
          </a:solidFill>
          <a:ln w="12700">
            <a:solidFill>
              <a:srgbClr val="0A5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902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12A07C"/>
                </a:solidFill>
              </a:rPr>
              <a:t>Solution retenue : couvre tous les besoins identifiés, scalable, modèle SaaS abordable.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73552" y="1170432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12070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F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83280" y="16276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de réservation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83280" y="2157984"/>
            <a:ext cx="2542032" cy="402336"/>
          </a:xfrm>
          <a:prstGeom prst="rect">
            <a:avLst/>
          </a:prstGeom>
          <a:solidFill>
            <a:srgbClr val="F0F7F4"/>
          </a:solidFill>
          <a:ln w="12700">
            <a:solidFill>
              <a:srgbClr val="D0E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2176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F78"/>
                </a:solidFill>
              </a:rPr>
              <a:t>🔬 Soustraction → supprimer l'app,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F78"/>
                </a:solidFill>
              </a:rPr>
              <a:t>garder l'outil déjà utilisé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83280" y="2633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Prise de RDV par message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3280" y="29169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Rappels automatiques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3280" y="3200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Zéro installation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83280" y="34838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4C3F"/>
                </a:solidFill>
              </a:rPr>
              <a:t>✗ Limité : pas de dossier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83280" y="37673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4C3F"/>
                </a:solidFill>
              </a:rPr>
              <a:t>✗ Dépendance à Meta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83280" y="40507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4C3F"/>
                </a:solidFill>
              </a:rPr>
              <a:t>✗ Pas d'ordonnance numérique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73552" y="4572000"/>
            <a:ext cx="2743200" cy="438912"/>
          </a:xfrm>
          <a:prstGeom prst="rect">
            <a:avLst/>
          </a:prstGeom>
          <a:solidFill>
            <a:srgbClr val="F7FAF9"/>
          </a:solidFill>
          <a:ln w="12700">
            <a:solidFill>
              <a:srgbClr val="D0E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45902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F78"/>
                </a:solidFill>
              </a:rPr>
              <a:t>Limite : ne résout pas le dossier patient ni les ordonnances.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81344" y="1170432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91072" y="12070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F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91072" y="16276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Tablette Partagée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l'Accueil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91072" y="2157984"/>
            <a:ext cx="2542032" cy="402336"/>
          </a:xfrm>
          <a:prstGeom prst="rect">
            <a:avLst/>
          </a:prstGeom>
          <a:solidFill>
            <a:srgbClr val="F0F7F4"/>
          </a:solidFill>
          <a:ln w="12700">
            <a:solidFill>
              <a:srgbClr val="D0E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2176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F78"/>
                </a:solidFill>
              </a:rPr>
              <a:t>🔬 Division → secrétaire gère,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F78"/>
                </a:solidFill>
              </a:rPr>
              <a:t>médecin consulte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91072" y="2633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Fonctionne hors ligne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91072" y="29169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Un seul point d'entrée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91072" y="3200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A16"/>
                </a:solidFill>
              </a:rPr>
              <a:t>✓ Pas besoin d'internet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91072" y="34838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4C3F"/>
                </a:solidFill>
              </a:rPr>
              <a:t>✗ Coût matériel initial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91072" y="37673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4C3F"/>
                </a:solidFill>
              </a:rPr>
              <a:t>✗ Non scalable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91072" y="40507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4C3F"/>
                </a:solidFill>
              </a:rPr>
              <a:t>✗ Accès patient inexistant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81344" y="4572000"/>
            <a:ext cx="2743200" cy="438912"/>
          </a:xfrm>
          <a:prstGeom prst="rect">
            <a:avLst/>
          </a:prstGeom>
          <a:solidFill>
            <a:srgbClr val="F7FAF9"/>
          </a:solidFill>
          <a:ln w="12700">
            <a:solidFill>
              <a:srgbClr val="D0E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45902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F78"/>
                </a:solidFill>
              </a:rPr>
              <a:t>Limite : un seul point d'accès, pas de vue patient, scalabilité nulle.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D7A5F"/>
                </a:solidFill>
              </a:rPr>
              <a:t>ÉTAPE 6 · PROTOTYPE BASSE RÉSOLUTION — INTERFACE UTILISATEUR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prototype pour tester avant de construire.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F78"/>
                </a:solidFill>
              </a:rPr>
              <a:t>Objectif : donner à l'utilisateur l'expérience de la solution — sans lui expliquer. Observer son comportement.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3291840"/>
          </a:xfrm>
          <a:prstGeom prst="roundRect">
            <a:avLst>
              <a:gd name="adj" fmla="val 10476"/>
            </a:avLst>
          </a:prstGeom>
          <a:solidFill>
            <a:srgbClr val="0F1A16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737360" cy="2834640"/>
          </a:xfrm>
          <a:prstGeom prst="rect">
            <a:avLst/>
          </a:prstGeom>
          <a:solidFill>
            <a:srgbClr val="1A2E28"/>
          </a:solidFill>
          <a:ln w="12700">
            <a:solidFill>
              <a:srgbClr val="1A2E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1737360" cy="20116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64792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CliniqueCI  ·  Agenda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737360" cy="301752"/>
          </a:xfrm>
          <a:prstGeom prst="rect">
            <a:avLst/>
          </a:prstGeom>
          <a:solidFill>
            <a:srgbClr val="1E3530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98424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78F88"/>
                </a:solidFill>
              </a:rPr>
              <a:t>08h30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987552" y="19842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Diallo F.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755648" y="2011680"/>
            <a:ext cx="475488" cy="182880"/>
          </a:xfrm>
          <a:prstGeom prst="roundRect">
            <a:avLst>
              <a:gd name="adj" fmla="val 30000"/>
            </a:avLst>
          </a:prstGeom>
          <a:solidFill>
            <a:srgbClr val="12A07C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5648" y="2011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FFFFFF"/>
                </a:solidFill>
              </a:rPr>
              <a:t>Confirmé</a:t>
            </a:r>
            <a:endParaRPr lang="en-US" sz="450" dirty="0"/>
          </a:p>
        </p:txBody>
      </p:sp>
      <p:sp>
        <p:nvSpPr>
          <p:cNvPr id="14" name="Shape 12"/>
          <p:cNvSpPr/>
          <p:nvPr/>
        </p:nvSpPr>
        <p:spPr>
          <a:xfrm>
            <a:off x="548640" y="2295144"/>
            <a:ext cx="1737360" cy="301752"/>
          </a:xfrm>
          <a:prstGeom prst="rect">
            <a:avLst/>
          </a:prstGeom>
          <a:solidFill>
            <a:srgbClr val="192C28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31343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78F88"/>
                </a:solidFill>
              </a:rPr>
              <a:t>09h00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987552" y="23134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Koné A.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755648" y="2340864"/>
            <a:ext cx="475488" cy="182880"/>
          </a:xfrm>
          <a:prstGeom prst="roundRect">
            <a:avLst>
              <a:gd name="adj" fmla="val 3000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234086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FFFFFF"/>
                </a:solidFill>
              </a:rPr>
              <a:t>En attente</a:t>
            </a:r>
            <a:endParaRPr lang="en-US" sz="450" dirty="0"/>
          </a:p>
        </p:txBody>
      </p:sp>
      <p:sp>
        <p:nvSpPr>
          <p:cNvPr id="19" name="Shape 17"/>
          <p:cNvSpPr/>
          <p:nvPr/>
        </p:nvSpPr>
        <p:spPr>
          <a:xfrm>
            <a:off x="548640" y="2624328"/>
            <a:ext cx="1737360" cy="301752"/>
          </a:xfrm>
          <a:prstGeom prst="rect">
            <a:avLst/>
          </a:prstGeom>
          <a:solidFill>
            <a:srgbClr val="1E3530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264261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78F88"/>
                </a:solidFill>
              </a:rPr>
              <a:t>09h30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987552" y="2642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Libre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48640" y="2953512"/>
            <a:ext cx="1737360" cy="301752"/>
          </a:xfrm>
          <a:prstGeom prst="rect">
            <a:avLst/>
          </a:prstGeom>
          <a:solidFill>
            <a:srgbClr val="192C28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297180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78F88"/>
                </a:solidFill>
              </a:rPr>
              <a:t>10h00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987552" y="2971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Ouédraogo M.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755648" y="2999232"/>
            <a:ext cx="475488" cy="182880"/>
          </a:xfrm>
          <a:prstGeom prst="roundRect">
            <a:avLst>
              <a:gd name="adj" fmla="val 30000"/>
            </a:avLst>
          </a:prstGeom>
          <a:solidFill>
            <a:srgbClr val="12A07C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55648" y="29992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FFFFFF"/>
                </a:solidFill>
              </a:rPr>
              <a:t>Confirmé</a:t>
            </a:r>
            <a:endParaRPr lang="en-US" sz="450" dirty="0"/>
          </a:p>
        </p:txBody>
      </p:sp>
      <p:sp>
        <p:nvSpPr>
          <p:cNvPr id="27" name="Shape 25"/>
          <p:cNvSpPr/>
          <p:nvPr/>
        </p:nvSpPr>
        <p:spPr>
          <a:xfrm>
            <a:off x="548640" y="3282696"/>
            <a:ext cx="1737360" cy="301752"/>
          </a:xfrm>
          <a:prstGeom prst="rect">
            <a:avLst/>
          </a:prstGeom>
          <a:solidFill>
            <a:srgbClr val="1E3530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" y="330098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78F88"/>
                </a:solidFill>
              </a:rPr>
              <a:t>10h30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987552" y="33009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Sékou B.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1755648" y="3328416"/>
            <a:ext cx="475488" cy="182880"/>
          </a:xfrm>
          <a:prstGeom prst="roundRect">
            <a:avLst>
              <a:gd name="adj" fmla="val 30000"/>
            </a:avLst>
          </a:prstGeom>
          <a:solidFill>
            <a:srgbClr val="12A07C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55648" y="3328416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FFFFFF"/>
                </a:solidFill>
              </a:rPr>
              <a:t>Confirmé</a:t>
            </a:r>
            <a:endParaRPr lang="en-US" sz="450" dirty="0"/>
          </a:p>
        </p:txBody>
      </p:sp>
      <p:sp>
        <p:nvSpPr>
          <p:cNvPr id="32" name="Shape 30"/>
          <p:cNvSpPr/>
          <p:nvPr/>
        </p:nvSpPr>
        <p:spPr>
          <a:xfrm>
            <a:off x="548640" y="3611880"/>
            <a:ext cx="1737360" cy="301752"/>
          </a:xfrm>
          <a:prstGeom prst="rect">
            <a:avLst/>
          </a:prstGeom>
          <a:solidFill>
            <a:srgbClr val="192C28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363016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78F88"/>
                </a:solidFill>
              </a:rPr>
              <a:t>11h00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987552" y="3630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Libre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48640" y="3941064"/>
            <a:ext cx="1737360" cy="301752"/>
          </a:xfrm>
          <a:prstGeom prst="rect">
            <a:avLst/>
          </a:prstGeom>
          <a:solidFill>
            <a:srgbClr val="1E3530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" y="395935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78F88"/>
                </a:solidFill>
              </a:rPr>
              <a:t>11h30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987552" y="39593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Camara L.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1755648" y="3986784"/>
            <a:ext cx="475488" cy="182880"/>
          </a:xfrm>
          <a:prstGeom prst="roundRect">
            <a:avLst>
              <a:gd name="adj" fmla="val 30000"/>
            </a:avLst>
          </a:prstGeom>
          <a:solidFill>
            <a:srgbClr val="3D9BFF"/>
          </a:solidFill>
          <a:ln w="12700">
            <a:solidFill>
              <a:srgbClr val="3D9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55648" y="398678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FFFFFF"/>
                </a:solidFill>
              </a:rPr>
              <a:t>En salle</a:t>
            </a:r>
            <a:endParaRPr lang="en-US" sz="450" dirty="0"/>
          </a:p>
        </p:txBody>
      </p:sp>
      <p:sp>
        <p:nvSpPr>
          <p:cNvPr id="40" name="Text 38"/>
          <p:cNvSpPr/>
          <p:nvPr/>
        </p:nvSpPr>
        <p:spPr>
          <a:xfrm>
            <a:off x="457200" y="4873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F78"/>
                </a:solidFill>
              </a:rPr>
              <a:t>Agenda Dr. Aminata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880360" y="1508760"/>
            <a:ext cx="1920240" cy="3291840"/>
          </a:xfrm>
          <a:prstGeom prst="roundRect">
            <a:avLst>
              <a:gd name="adj" fmla="val 10476"/>
            </a:avLst>
          </a:prstGeom>
          <a:solidFill>
            <a:srgbClr val="0F1A16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71800" y="1737360"/>
            <a:ext cx="1737360" cy="2834640"/>
          </a:xfrm>
          <a:prstGeom prst="rect">
            <a:avLst/>
          </a:prstGeom>
          <a:solidFill>
            <a:srgbClr val="1A2E28"/>
          </a:solidFill>
          <a:ln w="12700">
            <a:solidFill>
              <a:srgbClr val="1A2E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71800" y="1737360"/>
            <a:ext cx="1737360" cy="20116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0088" y="1764792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CliniqueCI  ·  Dossier Patient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3520440" y="2011680"/>
            <a:ext cx="457200" cy="45720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202082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90088" y="251460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Karim Meïté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990088" y="2734056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8F88"/>
                </a:solidFill>
              </a:rPr>
              <a:t>31 ans · Groupe sanguin A+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2971800" y="2990088"/>
            <a:ext cx="1737360" cy="301752"/>
          </a:xfrm>
          <a:prstGeom prst="rect">
            <a:avLst/>
          </a:prstGeom>
          <a:solidFill>
            <a:srgbClr val="1E3530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08376" y="30083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78F88"/>
                </a:solidFill>
              </a:rPr>
              <a:t>Allergies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849624" y="30083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Pénicilline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971800" y="3319272"/>
            <a:ext cx="1737360" cy="301752"/>
          </a:xfrm>
          <a:prstGeom prst="rect">
            <a:avLst/>
          </a:prstGeom>
          <a:solidFill>
            <a:srgbClr val="192C28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08376" y="3337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78F88"/>
                </a:solidFill>
              </a:rPr>
              <a:t>Diabète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3849624" y="3337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Non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971800" y="3648456"/>
            <a:ext cx="1737360" cy="301752"/>
          </a:xfrm>
          <a:prstGeom prst="rect">
            <a:avLst/>
          </a:prstGeom>
          <a:solidFill>
            <a:srgbClr val="1E3530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08376" y="36667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78F88"/>
                </a:solidFill>
              </a:rPr>
              <a:t>TA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3849624" y="36667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120/80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71800" y="3977640"/>
            <a:ext cx="1737360" cy="301752"/>
          </a:xfrm>
          <a:prstGeom prst="rect">
            <a:avLst/>
          </a:prstGeom>
          <a:solidFill>
            <a:srgbClr val="192C28"/>
          </a:solidFill>
          <a:ln w="12700">
            <a:solidFill>
              <a:srgbClr val="1E353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08376" y="39959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78F88"/>
                </a:solidFill>
              </a:rPr>
              <a:t>Dernière visite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849624" y="39959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06/05/2026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880360" y="4873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F78"/>
                </a:solidFill>
              </a:rPr>
              <a:t>Dossier Patient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303520" y="1508760"/>
            <a:ext cx="1920240" cy="3291840"/>
          </a:xfrm>
          <a:prstGeom prst="roundRect">
            <a:avLst>
              <a:gd name="adj" fmla="val 10476"/>
            </a:avLst>
          </a:prstGeom>
          <a:solidFill>
            <a:srgbClr val="0F1A16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94960" y="1737360"/>
            <a:ext cx="1737360" cy="2834640"/>
          </a:xfrm>
          <a:prstGeom prst="rect">
            <a:avLst/>
          </a:prstGeom>
          <a:solidFill>
            <a:srgbClr val="1A2E28"/>
          </a:solidFill>
          <a:ln w="12700">
            <a:solidFill>
              <a:srgbClr val="1A2E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94960" y="1737360"/>
            <a:ext cx="1737360" cy="20116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13248" y="1764792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CliniqueCI  ·  Prendre RDV</a:t>
            </a:r>
            <a:endParaRPr lang="en-US" sz="550" dirty="0"/>
          </a:p>
        </p:txBody>
      </p:sp>
      <p:sp>
        <p:nvSpPr>
          <p:cNvPr id="66" name="Text 64"/>
          <p:cNvSpPr/>
          <p:nvPr/>
        </p:nvSpPr>
        <p:spPr>
          <a:xfrm>
            <a:off x="5413248" y="2011680"/>
            <a:ext cx="1700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Dr. Aminata Koné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413248" y="2203704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8F88"/>
                </a:solidFill>
              </a:rPr>
              <a:t>Médecine générale · Riviera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413248" y="2441448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2A07C"/>
                </a:solidFill>
              </a:rPr>
              <a:t>Choisissez un créneau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5431536" y="2679192"/>
            <a:ext cx="768096" cy="274320"/>
          </a:xfrm>
          <a:prstGeom prst="roundRect">
            <a:avLst>
              <a:gd name="adj" fmla="val 20000"/>
            </a:avLst>
          </a:prstGeom>
          <a:solidFill>
            <a:srgbClr val="1E3530"/>
          </a:solidFill>
          <a:ln w="12700">
            <a:solidFill>
              <a:srgbClr val="2A4A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31536" y="2679192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8F88"/>
                </a:solidFill>
              </a:rPr>
              <a:t>08h30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309360" y="2679192"/>
            <a:ext cx="768096" cy="274320"/>
          </a:xfrm>
          <a:prstGeom prst="roundRect">
            <a:avLst>
              <a:gd name="adj" fmla="val 20000"/>
            </a:avLst>
          </a:prstGeom>
          <a:solidFill>
            <a:srgbClr val="1E3530"/>
          </a:solidFill>
          <a:ln w="12700">
            <a:solidFill>
              <a:srgbClr val="2A4A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9360" y="2679192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8F88"/>
                </a:solidFill>
              </a:rPr>
              <a:t>09h00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431536" y="3026664"/>
            <a:ext cx="768096" cy="274320"/>
          </a:xfrm>
          <a:prstGeom prst="roundRect">
            <a:avLst>
              <a:gd name="adj" fmla="val 20000"/>
            </a:avLst>
          </a:prstGeom>
          <a:solidFill>
            <a:srgbClr val="0D7A5F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31536" y="3026664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10h00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309360" y="3026664"/>
            <a:ext cx="768096" cy="274320"/>
          </a:xfrm>
          <a:prstGeom prst="roundRect">
            <a:avLst>
              <a:gd name="adj" fmla="val 20000"/>
            </a:avLst>
          </a:prstGeom>
          <a:solidFill>
            <a:srgbClr val="1E3530"/>
          </a:solidFill>
          <a:ln w="12700">
            <a:solidFill>
              <a:srgbClr val="2A4A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09360" y="3026664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8F88"/>
                </a:solidFill>
              </a:rPr>
              <a:t>11h30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431536" y="3374136"/>
            <a:ext cx="768096" cy="274320"/>
          </a:xfrm>
          <a:prstGeom prst="roundRect">
            <a:avLst>
              <a:gd name="adj" fmla="val 20000"/>
            </a:avLst>
          </a:prstGeom>
          <a:solidFill>
            <a:srgbClr val="1E3530"/>
          </a:solidFill>
          <a:ln w="12700">
            <a:solidFill>
              <a:srgbClr val="2A4A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31536" y="3374136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8F88"/>
                </a:solidFill>
              </a:rPr>
              <a:t>14h00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431536" y="3721608"/>
            <a:ext cx="1664208" cy="320040"/>
          </a:xfrm>
          <a:prstGeom prst="roundRect">
            <a:avLst>
              <a:gd name="adj" fmla="val 22857"/>
            </a:avLst>
          </a:prstGeom>
          <a:solidFill>
            <a:srgbClr val="12A07C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31536" y="3739896"/>
            <a:ext cx="16642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Confirmer le RDV →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394960" y="4114800"/>
            <a:ext cx="1737360" cy="457200"/>
          </a:xfrm>
          <a:prstGeom prst="rect">
            <a:avLst/>
          </a:prstGeom>
          <a:solidFill>
            <a:srgbClr val="0A2820"/>
          </a:solidFill>
          <a:ln w="12700">
            <a:solidFill>
              <a:srgbClr val="0A282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13248" y="414223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2A07C"/>
                </a:solidFill>
              </a:rPr>
              <a:t>✅ Confirmation immédiate</a:t>
            </a:r>
            <a:endParaRPr lang="en-US" sz="6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2A07C"/>
                </a:solidFill>
              </a:rPr>
              <a:t>par SMS + WhatsApp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5303520" y="4873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F78"/>
                </a:solidFill>
              </a:rPr>
              <a:t>Prise de RDV Patient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360920" y="1627632"/>
            <a:ext cx="502920" cy="0"/>
          </a:xfrm>
          <a:prstGeom prst="line">
            <a:avLst/>
          </a:prstGeom>
          <a:noFill/>
          <a:ln w="12700">
            <a:solidFill>
              <a:srgbClr val="0D7A5F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7863840" y="1463040"/>
            <a:ext cx="1143000" cy="438912"/>
          </a:xfrm>
          <a:prstGeom prst="rect">
            <a:avLst/>
          </a:prstGeom>
          <a:solidFill>
            <a:srgbClr val="E6F5F1"/>
          </a:solidFill>
          <a:ln w="12700">
            <a:solidFill>
              <a:srgbClr val="C0E0D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82128" y="1481328"/>
            <a:ext cx="1106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A5F"/>
                </a:solidFill>
              </a:rPr>
              <a:t>Vue agenda temps réel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A5F"/>
                </a:solidFill>
              </a:rPr>
              <a:t>du médecin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360920" y="2395728"/>
            <a:ext cx="502920" cy="0"/>
          </a:xfrm>
          <a:prstGeom prst="line">
            <a:avLst/>
          </a:prstGeom>
          <a:noFill/>
          <a:ln w="12700">
            <a:solidFill>
              <a:srgbClr val="0D7A5F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7863840" y="2231136"/>
            <a:ext cx="1143000" cy="438912"/>
          </a:xfrm>
          <a:prstGeom prst="rect">
            <a:avLst/>
          </a:prstGeom>
          <a:solidFill>
            <a:srgbClr val="E6F5F1"/>
          </a:solidFill>
          <a:ln w="12700">
            <a:solidFill>
              <a:srgbClr val="C0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82128" y="2249424"/>
            <a:ext cx="1106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A5F"/>
                </a:solidFill>
              </a:rPr>
              <a:t>Dossier complet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A5F"/>
                </a:solidFill>
              </a:rPr>
              <a:t>accessible en 1 tap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360920" y="3154680"/>
            <a:ext cx="502920" cy="0"/>
          </a:xfrm>
          <a:prstGeom prst="line">
            <a:avLst/>
          </a:prstGeom>
          <a:noFill/>
          <a:ln w="12700">
            <a:solidFill>
              <a:srgbClr val="0D7A5F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7863840" y="2990088"/>
            <a:ext cx="1143000" cy="438912"/>
          </a:xfrm>
          <a:prstGeom prst="rect">
            <a:avLst/>
          </a:prstGeom>
          <a:solidFill>
            <a:srgbClr val="E6F5F1"/>
          </a:solidFill>
          <a:ln w="12700">
            <a:solidFill>
              <a:srgbClr val="C0E0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82128" y="3008376"/>
            <a:ext cx="1106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A5F"/>
                </a:solidFill>
              </a:rPr>
              <a:t>Patient réserve seul,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A5F"/>
                </a:solidFill>
              </a:rPr>
              <a:t>sans appel téléphonique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F78"/>
                </a:solidFill>
              </a:rPr>
              <a:t>Prototype UI basse résolution — testé avec 2 utilisateurs pour observer le comportement avant toute ligne de code.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D7A5F"/>
                </a:solidFill>
              </a:rPr>
              <a:t>ÉTAPE 7 · TEST UTILISATEUR &amp; RÉTROACTION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testé. On a appris. On a changé.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78"/>
                </a:solidFill>
              </a:rPr>
              <a:t>Le prototype a été montré à Dr. Aminata et à Karim — sans explication préalable. Nous avons observé.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D64C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C3F"/>
                </a:solidFill>
              </a:rPr>
              <a:t>⟵  AVANT LES RETOURS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347472"/>
          </a:xfrm>
          <a:prstGeom prst="rect">
            <a:avLst/>
          </a:prstGeom>
          <a:solidFill>
            <a:srgbClr val="E6F5F1"/>
          </a:solidFill>
          <a:ln w="12700">
            <a:solidFill>
              <a:srgbClr val="12A0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727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A5F"/>
                </a:solidFill>
              </a:rPr>
              <a:t>APRÈS ITÉRATION  ⟶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73152" cy="86868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75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5F"/>
                </a:solidFill>
              </a:rPr>
              <a:t>Dr. Aminata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3042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B7F78"/>
                </a:solidFill>
              </a:rPr>
              <a:t>Problème : L'agenda affichait l'heure et le nom sans le motif de visite. Elle cherchait pendant 10 secondes.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0" cy="594360"/>
          </a:xfrm>
          <a:prstGeom prst="line">
            <a:avLst/>
          </a:prstGeom>
          <a:noFill/>
          <a:ln w="12700">
            <a:solidFill>
              <a:srgbClr val="D0E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75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Solution : Ajout du motif de consultation dans chaque créneau. Réduction du temps de lecture.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26280" y="2542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D7A5F"/>
                </a:solidFill>
              </a:rPr>
              <a:t>💡 Le médecin lit son agenda en mouvement — chaque seconde compte.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73152" cy="86868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035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5F"/>
                </a:solidFill>
              </a:rPr>
              <a:t>Karim (patient)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32644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B7F78"/>
                </a:solidFill>
              </a:rPr>
              <a:t>Problème : Le bouton 'Confirmer le RDV' n'indiquait pas ce qui allait se passer après. Hésitation visible.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9120" y="3108960"/>
            <a:ext cx="0" cy="594360"/>
          </a:xfrm>
          <a:prstGeom prst="line">
            <a:avLst/>
          </a:prstGeom>
          <a:noFill/>
          <a:ln w="12700">
            <a:solidFill>
              <a:srgbClr val="D0E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0358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Solution : Ajout d'un message de confirmation immédiate par SMS. Bouton relabellisé 'Réserver &amp; Confirmer'.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26280" y="3502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D7A5F"/>
                </a:solidFill>
              </a:rPr>
              <a:t>💡 Le patient a besoin de réassurance immédiate — l'incertitude crée de l'abandon.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31920"/>
            <a:ext cx="73152" cy="86868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995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5F"/>
                </a:solidFill>
              </a:rPr>
              <a:t>Rana (secrétaire)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" y="42245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B7F78"/>
                </a:solidFill>
              </a:rPr>
              <a:t>Problème : Interface trop proche d'un logiciel PC. Termes techniques ("multi-tenant", "module").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89120" y="4069080"/>
            <a:ext cx="0" cy="594360"/>
          </a:xfrm>
          <a:prstGeom prst="line">
            <a:avLst/>
          </a:prstGeom>
          <a:noFill/>
          <a:ln w="12700">
            <a:solidFill>
              <a:srgbClr val="D0E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9959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A16"/>
                </a:solidFill>
              </a:rPr>
              <a:t>Solution : Vocabulaire simplifié. Navigation repensée autour de 3 actions : Accueil, Agenda, Patients.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26280" y="4462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D7A5F"/>
                </a:solidFill>
              </a:rPr>
              <a:t>💡 L'outil doit parler le langage de l'utilisateur, pas celui du développeur.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D7A5F"/>
                </a:solidFill>
              </a:rPr>
              <a:t>L'itération n'est pas un échec — c'est la preuve que le processus fonctionne.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94944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42416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89888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084832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432304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79776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127248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22192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69664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17136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12A07C"/>
                </a:solidFill>
              </a:rPr>
              <a:t>SOLUTION RETENUE · MODÈLE ÉCONOMIQUE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CliniqueCI — SaaS accessible, local, scalable.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1143000"/>
            <a:ext cx="2651760" cy="1097280"/>
          </a:xfrm>
          <a:prstGeom prst="rect">
            <a:avLst/>
          </a:prstGeom>
          <a:solidFill>
            <a:srgbClr val="0A3D2F"/>
          </a:solidFill>
          <a:ln w="12700">
            <a:solidFill>
              <a:srgbClr val="12A07C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18872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A0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57200" y="18105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78F88"/>
                </a:solidFill>
              </a:rPr>
              <a:t>Cliniques privées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78F88"/>
                </a:solidFill>
              </a:rPr>
              <a:t>à Abidjan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1143000"/>
            <a:ext cx="2651760" cy="1097280"/>
          </a:xfrm>
          <a:prstGeom prst="rect">
            <a:avLst/>
          </a:prstGeom>
          <a:solidFill>
            <a:srgbClr val="0A3D2F"/>
          </a:solidFill>
          <a:ln w="12700">
            <a:solidFill>
              <a:srgbClr val="12A07C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18872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A0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5M+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3291840" y="18105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78F88"/>
                </a:solidFill>
              </a:rPr>
              <a:t>Consultations/an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78F88"/>
                </a:solidFill>
              </a:rPr>
              <a:t>en Côte d'Ivoire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1143000"/>
            <a:ext cx="2651760" cy="1097280"/>
          </a:xfrm>
          <a:prstGeom prst="rect">
            <a:avLst/>
          </a:prstGeom>
          <a:solidFill>
            <a:srgbClr val="0A3D2F"/>
          </a:solidFill>
          <a:ln w="12700">
            <a:solidFill>
              <a:srgbClr val="12A07C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18872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A0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126480" y="18105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78F88"/>
                </a:solidFill>
              </a:rPr>
              <a:t>Solution locale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78F88"/>
                </a:solidFill>
              </a:rPr>
              <a:t>dominante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2395728"/>
            <a:ext cx="2651760" cy="2606040"/>
          </a:xfrm>
          <a:prstGeom prst="rect">
            <a:avLst/>
          </a:prstGeom>
          <a:solidFill>
            <a:srgbClr val="0A3D2F"/>
          </a:solidFill>
          <a:ln w="12700">
            <a:solidFill>
              <a:srgbClr val="1A5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4505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Starter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27614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C8BE"/>
                </a:solidFill>
              </a:rPr>
              <a:t>Gratuit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1546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BE"/>
                </a:solidFill>
              </a:rPr>
              <a:t>· 1 médecin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35021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BE"/>
                </a:solidFill>
              </a:rPr>
              <a:t>· 50 patients/mois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38496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BE"/>
                </a:solidFill>
              </a:rPr>
              <a:t>· RDV en ligne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419709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BE"/>
                </a:solidFill>
              </a:rPr>
              <a:t>· Dossiers basiques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2395728"/>
            <a:ext cx="2651760" cy="2606040"/>
          </a:xfrm>
          <a:prstGeom prst="rect">
            <a:avLst/>
          </a:prstGeom>
          <a:solidFill>
            <a:srgbClr val="0D7A5F"/>
          </a:solidFill>
          <a:ln w="25400">
            <a:solidFill>
              <a:srgbClr val="12A0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2395728"/>
            <a:ext cx="100584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4140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Populaire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383280" y="24505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383280" y="27614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07C"/>
                </a:solidFill>
              </a:rPr>
              <a:t>25 000 FCFA/mois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383280" y="31546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· 5 médecins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83280" y="35021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· Patients illimités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83280" y="38496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· Ordonnances PDF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83280" y="419709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· Facturation + rapports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383280" y="454456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· Support WhatsApp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2395728"/>
            <a:ext cx="2651760" cy="2606040"/>
          </a:xfrm>
          <a:prstGeom prst="rect">
            <a:avLst/>
          </a:prstGeom>
          <a:solidFill>
            <a:srgbClr val="0A3D2F"/>
          </a:solidFill>
          <a:ln w="12700">
            <a:solidFill>
              <a:srgbClr val="1A50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24505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Clinique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217920" y="27614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C8BE"/>
                </a:solidFill>
              </a:rPr>
              <a:t>75 000 FCFA/mois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31546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BE"/>
                </a:solidFill>
              </a:rPr>
              <a:t>· Médecins illimités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17920" y="35021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BE"/>
                </a:solidFill>
              </a:rPr>
              <a:t>· Multi-sites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217920" y="38496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BE"/>
                </a:solidFill>
              </a:rPr>
              <a:t>· Tableaux de bord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17920" y="419709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BE"/>
                </a:solidFill>
              </a:rPr>
              <a:t>· Intégration CNAM v2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17920" y="454456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8BE"/>
                </a:solidFill>
              </a:rPr>
              <a:t>· Account manager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21408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82112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12464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42816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3872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4576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15984" y="0"/>
            <a:ext cx="0" cy="514350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0D7A5F">
              <a:alpha val="12000"/>
            </a:srgbClr>
          </a:solidFill>
          <a:ln w="12700">
            <a:solidFill>
              <a:srgbClr val="0F1A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12A07C"/>
                </a:solidFill>
              </a:rPr>
              <a:t>CE QUE CE PROJET NOUS A APPRIS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solidFill>
            <a:srgbClr val="0A3D2F"/>
          </a:solidFill>
          <a:ln w="12700">
            <a:solidFill>
              <a:srgbClr val="12A07C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9601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25880" y="987552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L'innovation commence par écouter, pas par inventer. Nos 4 entretiens ont tout changé.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1874520"/>
            <a:ext cx="8046720" cy="822960"/>
          </a:xfrm>
          <a:prstGeom prst="rect">
            <a:avLst/>
          </a:prstGeom>
          <a:solidFill>
            <a:srgbClr val="0A3D2F"/>
          </a:solidFill>
          <a:ln w="12700">
            <a:solidFill>
              <a:srgbClr val="12A07C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19202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25880" y="1947672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La carte de parcours a révélé que la douleur était administrative, pas médicale — une surprise totale.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solidFill>
            <a:srgbClr val="0A3D2F"/>
          </a:solidFill>
          <a:ln w="12700">
            <a:solidFill>
              <a:srgbClr val="12A07C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28803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325880" y="2907792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L'état d'esprit de croissance : nos 3 premières maquettes ont été refaites après les retours utilisateurs.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solidFill>
            <a:srgbClr val="0A3D2F"/>
          </a:solidFill>
          <a:ln w="12700">
            <a:solidFill>
              <a:srgbClr val="12A07C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3840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325880" y="3867912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Une bonne question « Comment pourrions-nous » vaut mieux que dix mauvaises solutions.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6360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Clinique</a:t>
            </a:r>
            <a:pPr algn="ctr" indent="0" marL="0">
              <a:buNone/>
            </a:pPr>
            <a:r>
              <a:rPr lang="en-US" sz="1800" b="1" i="1" dirty="0">
                <a:solidFill>
                  <a:srgbClr val="E6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</a:t>
            </a:r>
            <a:pPr algn="ctr" indent="0" marL="0">
              <a:buNone/>
            </a:pPr>
            <a:r>
              <a:rPr lang="en-US" sz="1100" dirty="0">
                <a:solidFill>
                  <a:srgbClr val="A0C8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Projet Final Innovation &amp; Entrepreneuriat   ·   Abidjan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CliniqueCI — Projet Final</dc:title>
  <dc:subject>PptxGenJS Presentation</dc:subject>
  <dc:creator>PptxGenJS</dc:creator>
  <cp:lastModifiedBy>PptxGenJS</cp:lastModifiedBy>
  <cp:revision>1</cp:revision>
  <dcterms:created xsi:type="dcterms:W3CDTF">2026-05-13T19:41:32Z</dcterms:created>
  <dcterms:modified xsi:type="dcterms:W3CDTF">2026-05-13T19:41:32Z</dcterms:modified>
</cp:coreProperties>
</file>